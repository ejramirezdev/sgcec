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8694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820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8403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597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5986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5775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22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7926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1172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4922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228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E516D-CE96-440F-A967-7B871E311064}" type="datetimeFigureOut">
              <a:rPr lang="es-EC" smtClean="0"/>
              <a:t>15/2/2016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0C5C8-1E21-4F9F-ABD5-BF55259906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4831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hyperlink" Target="mailto:pmartinez@sgcec.ne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hyperlink" Target="mailto:pmartinez@sgcec.ne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hyperlink" Target="mailto:pmartinez@sgcec.ne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77794" y="510769"/>
            <a:ext cx="1013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DESCRIPCION DEL PROCESO DE ATENCION DE QUEJAS Y RECLAMOS</a:t>
            </a:r>
            <a:endParaRPr lang="es-EC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477794" y="1053070"/>
            <a:ext cx="10322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Quejas y reclamos contra la actuación de una Organización que cuenta con un Certificado BPM emitido por SGCEC del Ecuador S.A.</a:t>
            </a:r>
            <a:endParaRPr lang="es-EC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477794" y="2026505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Parte interesada</a:t>
            </a:r>
            <a:endParaRPr lang="es-EC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3035644" y="1888005"/>
            <a:ext cx="1729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Cliente con Certificado BPM</a:t>
            </a:r>
            <a:endParaRPr lang="es-EC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5346359" y="1888005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</a:t>
            </a:r>
            <a:endParaRPr lang="es-EC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7549033" y="1857462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Equipo de Investigación</a:t>
            </a:r>
            <a:endParaRPr lang="es-EC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9601201" y="1888005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</a:t>
            </a:r>
            <a:endParaRPr lang="es-EC" b="1" dirty="0"/>
          </a:p>
        </p:txBody>
      </p:sp>
      <p:cxnSp>
        <p:nvCxnSpPr>
          <p:cNvPr id="12" name="Conector recto 11"/>
          <p:cNvCxnSpPr/>
          <p:nvPr/>
        </p:nvCxnSpPr>
        <p:spPr>
          <a:xfrm>
            <a:off x="535458" y="1855053"/>
            <a:ext cx="10939849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535458" y="2555974"/>
            <a:ext cx="10939849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>
            <a:off x="4955560" y="187239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 flipH="1">
            <a:off x="7278380" y="185264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 flipH="1">
            <a:off x="9361292" y="185264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198607" y="3113460"/>
            <a:ext cx="2235695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Presenta queja o reclamo al Cliente Certificado BPM</a:t>
            </a:r>
            <a:endParaRPr lang="es-EC" dirty="0"/>
          </a:p>
        </p:txBody>
      </p:sp>
      <p:sp>
        <p:nvSpPr>
          <p:cNvPr id="20" name="CuadroTexto 19"/>
          <p:cNvSpPr txBox="1"/>
          <p:nvPr/>
        </p:nvSpPr>
        <p:spPr>
          <a:xfrm>
            <a:off x="477794" y="2678608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1</a:t>
            </a:r>
            <a:endParaRPr lang="es-EC" b="1" dirty="0"/>
          </a:p>
        </p:txBody>
      </p:sp>
      <p:sp>
        <p:nvSpPr>
          <p:cNvPr id="21" name="CuadroTexto 20"/>
          <p:cNvSpPr txBox="1"/>
          <p:nvPr/>
        </p:nvSpPr>
        <p:spPr>
          <a:xfrm>
            <a:off x="2850781" y="3113460"/>
            <a:ext cx="1995306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Atiende la queja o reclamo satisfactoriamente</a:t>
            </a:r>
            <a:endParaRPr lang="es-EC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863058" y="2672557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2</a:t>
            </a:r>
            <a:endParaRPr lang="es-EC" b="1" dirty="0"/>
          </a:p>
        </p:txBody>
      </p:sp>
      <p:sp>
        <p:nvSpPr>
          <p:cNvPr id="23" name="Elipse 22"/>
          <p:cNvSpPr/>
          <p:nvPr/>
        </p:nvSpPr>
        <p:spPr>
          <a:xfrm>
            <a:off x="3201479" y="4241248"/>
            <a:ext cx="1302328" cy="423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b="1" dirty="0" smtClean="0">
                <a:solidFill>
                  <a:schemeClr val="tx1"/>
                </a:solidFill>
              </a:rPr>
              <a:t>Cierre del proceso</a:t>
            </a:r>
            <a:endParaRPr lang="es-EC" sz="1100" b="1" dirty="0">
              <a:solidFill>
                <a:schemeClr val="tx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2880284" y="4868819"/>
            <a:ext cx="1995306" cy="120032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No emite respuesta / Respuesta inadecuada</a:t>
            </a:r>
            <a:endParaRPr lang="es-EC" dirty="0"/>
          </a:p>
        </p:txBody>
      </p:sp>
      <p:cxnSp>
        <p:nvCxnSpPr>
          <p:cNvPr id="30" name="Conector recto de flecha 29"/>
          <p:cNvCxnSpPr>
            <a:stCxn id="21" idx="2"/>
            <a:endCxn id="23" idx="0"/>
          </p:cNvCxnSpPr>
          <p:nvPr/>
        </p:nvCxnSpPr>
        <p:spPr>
          <a:xfrm>
            <a:off x="3848434" y="4036790"/>
            <a:ext cx="4209" cy="204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 flipH="1">
            <a:off x="2512191" y="187239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226985" y="4285672"/>
            <a:ext cx="2229924" cy="203132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Envía queja o reclamo por escrito o email a </a:t>
            </a:r>
            <a:r>
              <a:rPr lang="es-EC" dirty="0" smtClean="0">
                <a:hlinkClick r:id="rId2"/>
              </a:rPr>
              <a:t>pmartinez@sgcec.net</a:t>
            </a:r>
            <a:r>
              <a:rPr lang="es-EC" dirty="0" smtClean="0"/>
              <a:t> indicando nombre, cédula, organización, teléfono, mail con evidencia objetiva</a:t>
            </a:r>
            <a:endParaRPr lang="es-EC" dirty="0"/>
          </a:p>
        </p:txBody>
      </p:sp>
      <p:cxnSp>
        <p:nvCxnSpPr>
          <p:cNvPr id="37" name="Conector angular 36"/>
          <p:cNvCxnSpPr>
            <a:stCxn id="24" idx="2"/>
            <a:endCxn id="33" idx="3"/>
          </p:cNvCxnSpPr>
          <p:nvPr/>
        </p:nvCxnSpPr>
        <p:spPr>
          <a:xfrm rot="5400000" flipH="1">
            <a:off x="2783516" y="4974728"/>
            <a:ext cx="767813" cy="1421028"/>
          </a:xfrm>
          <a:prstGeom prst="bentConnector4">
            <a:avLst>
              <a:gd name="adj1" fmla="val -29773"/>
              <a:gd name="adj2" fmla="val 851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5066020" y="2671157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3</a:t>
            </a:r>
            <a:endParaRPr lang="es-EC" b="1" dirty="0"/>
          </a:p>
        </p:txBody>
      </p:sp>
      <p:sp>
        <p:nvSpPr>
          <p:cNvPr id="39" name="CuadroTexto 38"/>
          <p:cNvSpPr txBox="1"/>
          <p:nvPr/>
        </p:nvSpPr>
        <p:spPr>
          <a:xfrm>
            <a:off x="5191710" y="3119810"/>
            <a:ext cx="1963673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Atención de Queja o Reclamo</a:t>
            </a:r>
            <a:endParaRPr lang="es-EC" dirty="0"/>
          </a:p>
        </p:txBody>
      </p:sp>
      <p:sp>
        <p:nvSpPr>
          <p:cNvPr id="41" name="CuadroTexto 40"/>
          <p:cNvSpPr txBox="1"/>
          <p:nvPr/>
        </p:nvSpPr>
        <p:spPr>
          <a:xfrm>
            <a:off x="5493042" y="4036790"/>
            <a:ext cx="162932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Es procedente</a:t>
            </a:r>
            <a:endParaRPr lang="es-EC" dirty="0"/>
          </a:p>
        </p:txBody>
      </p:sp>
      <p:sp>
        <p:nvSpPr>
          <p:cNvPr id="42" name="CuadroTexto 41"/>
          <p:cNvSpPr txBox="1"/>
          <p:nvPr/>
        </p:nvSpPr>
        <p:spPr>
          <a:xfrm>
            <a:off x="5493042" y="4521304"/>
            <a:ext cx="1629322" cy="14773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No es procedente: Solicitar más información o Notificación</a:t>
            </a:r>
            <a:endParaRPr lang="es-EC" dirty="0"/>
          </a:p>
        </p:txBody>
      </p:sp>
      <p:sp>
        <p:nvSpPr>
          <p:cNvPr id="47" name="CuadroTexto 46"/>
          <p:cNvSpPr txBox="1"/>
          <p:nvPr/>
        </p:nvSpPr>
        <p:spPr>
          <a:xfrm>
            <a:off x="7509793" y="3106217"/>
            <a:ext cx="1629322" cy="14773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Investigación de la Queja o Reclamo *:</a:t>
            </a:r>
          </a:p>
          <a:p>
            <a:pPr algn="ctr"/>
            <a:r>
              <a:rPr lang="es-EC" dirty="0" smtClean="0"/>
              <a:t>Emite informe de resultados</a:t>
            </a:r>
            <a:endParaRPr lang="es-EC" dirty="0"/>
          </a:p>
        </p:txBody>
      </p:sp>
      <p:cxnSp>
        <p:nvCxnSpPr>
          <p:cNvPr id="59" name="Conector angular 58"/>
          <p:cNvCxnSpPr>
            <a:stCxn id="33" idx="2"/>
            <a:endCxn id="39" idx="1"/>
          </p:cNvCxnSpPr>
          <p:nvPr/>
        </p:nvCxnSpPr>
        <p:spPr>
          <a:xfrm rot="5400000" flipH="1" flipV="1">
            <a:off x="1829817" y="2955105"/>
            <a:ext cx="2874021" cy="3849763"/>
          </a:xfrm>
          <a:prstGeom prst="bentConnector4">
            <a:avLst>
              <a:gd name="adj1" fmla="val -7954"/>
              <a:gd name="adj2" fmla="val 963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r 65"/>
          <p:cNvCxnSpPr>
            <a:endCxn id="41" idx="1"/>
          </p:cNvCxnSpPr>
          <p:nvPr/>
        </p:nvCxnSpPr>
        <p:spPr>
          <a:xfrm rot="16200000" flipH="1">
            <a:off x="5155846" y="3884259"/>
            <a:ext cx="455315" cy="2190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angular 67"/>
          <p:cNvCxnSpPr>
            <a:endCxn id="42" idx="1"/>
          </p:cNvCxnSpPr>
          <p:nvPr/>
        </p:nvCxnSpPr>
        <p:spPr>
          <a:xfrm rot="16200000" flipH="1">
            <a:off x="4601599" y="4368524"/>
            <a:ext cx="1483713" cy="2991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41" idx="3"/>
            <a:endCxn id="47" idx="1"/>
          </p:cNvCxnSpPr>
          <p:nvPr/>
        </p:nvCxnSpPr>
        <p:spPr>
          <a:xfrm flipV="1">
            <a:off x="7122364" y="3844881"/>
            <a:ext cx="387429" cy="3765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9845985" y="3125866"/>
            <a:ext cx="1629322" cy="230832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Notificación al Cliente: Solicitar más información, notificación no procedente, informe de resultados</a:t>
            </a:r>
            <a:endParaRPr lang="es-EC" dirty="0"/>
          </a:p>
        </p:txBody>
      </p:sp>
      <p:sp>
        <p:nvSpPr>
          <p:cNvPr id="73" name="CuadroTexto 72"/>
          <p:cNvSpPr txBox="1"/>
          <p:nvPr/>
        </p:nvSpPr>
        <p:spPr>
          <a:xfrm>
            <a:off x="7355197" y="2650908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4</a:t>
            </a:r>
            <a:endParaRPr lang="es-EC" b="1" dirty="0"/>
          </a:p>
        </p:txBody>
      </p:sp>
      <p:sp>
        <p:nvSpPr>
          <p:cNvPr id="74" name="CuadroTexto 73"/>
          <p:cNvSpPr txBox="1"/>
          <p:nvPr/>
        </p:nvSpPr>
        <p:spPr>
          <a:xfrm>
            <a:off x="9554456" y="2678114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5</a:t>
            </a:r>
            <a:endParaRPr lang="es-EC" b="1" dirty="0"/>
          </a:p>
        </p:txBody>
      </p:sp>
      <p:cxnSp>
        <p:nvCxnSpPr>
          <p:cNvPr id="76" name="Conector angular 75"/>
          <p:cNvCxnSpPr>
            <a:stCxn id="47" idx="3"/>
            <a:endCxn id="72" idx="1"/>
          </p:cNvCxnSpPr>
          <p:nvPr/>
        </p:nvCxnSpPr>
        <p:spPr>
          <a:xfrm>
            <a:off x="9139115" y="3844881"/>
            <a:ext cx="706870" cy="4351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/>
          <p:cNvSpPr/>
          <p:nvPr/>
        </p:nvSpPr>
        <p:spPr>
          <a:xfrm>
            <a:off x="10070954" y="5641654"/>
            <a:ext cx="1302328" cy="423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b="1" dirty="0" smtClean="0">
                <a:solidFill>
                  <a:schemeClr val="tx1"/>
                </a:solidFill>
              </a:rPr>
              <a:t>Cierre del proceso</a:t>
            </a:r>
            <a:endParaRPr lang="es-EC" sz="1100" b="1" dirty="0">
              <a:solidFill>
                <a:schemeClr val="tx1"/>
              </a:solidFill>
            </a:endParaRPr>
          </a:p>
        </p:txBody>
      </p:sp>
      <p:cxnSp>
        <p:nvCxnSpPr>
          <p:cNvPr id="78" name="Conector recto de flecha 77"/>
          <p:cNvCxnSpPr>
            <a:endCxn id="77" idx="0"/>
          </p:cNvCxnSpPr>
          <p:nvPr/>
        </p:nvCxnSpPr>
        <p:spPr>
          <a:xfrm>
            <a:off x="10717909" y="5437196"/>
            <a:ext cx="4209" cy="204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 redondeado 78"/>
          <p:cNvSpPr/>
          <p:nvPr/>
        </p:nvSpPr>
        <p:spPr>
          <a:xfrm>
            <a:off x="7549033" y="5641654"/>
            <a:ext cx="1590082" cy="10153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 smtClean="0">
                <a:solidFill>
                  <a:schemeClr val="tx1"/>
                </a:solidFill>
              </a:rPr>
              <a:t>* En caso de no entregar información en 90 días se puede cerrar proceso.</a:t>
            </a:r>
            <a:endParaRPr lang="es-EC" sz="1200" dirty="0">
              <a:solidFill>
                <a:schemeClr val="tx1"/>
              </a:solidFill>
            </a:endParaRPr>
          </a:p>
        </p:txBody>
      </p:sp>
      <p:pic>
        <p:nvPicPr>
          <p:cNvPr id="1026" name="Imagen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782" y="272954"/>
            <a:ext cx="356552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" name="Conector angular 80"/>
          <p:cNvCxnSpPr>
            <a:stCxn id="42" idx="3"/>
          </p:cNvCxnSpPr>
          <p:nvPr/>
        </p:nvCxnSpPr>
        <p:spPr>
          <a:xfrm flipV="1">
            <a:off x="7122364" y="4868819"/>
            <a:ext cx="2723621" cy="3911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/>
          <p:cNvCxnSpPr>
            <a:stCxn id="19" idx="3"/>
            <a:endCxn id="21" idx="1"/>
          </p:cNvCxnSpPr>
          <p:nvPr/>
        </p:nvCxnSpPr>
        <p:spPr>
          <a:xfrm>
            <a:off x="2434302" y="3575125"/>
            <a:ext cx="416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/>
          <p:cNvCxnSpPr/>
          <p:nvPr/>
        </p:nvCxnSpPr>
        <p:spPr>
          <a:xfrm rot="16200000" flipH="1">
            <a:off x="2170807" y="3976324"/>
            <a:ext cx="1297178" cy="4878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88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77794" y="510769"/>
            <a:ext cx="1013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DESCRIPCION DEL PROCESO DE ATENCION DE QUEJAS Y RECLAMOS</a:t>
            </a:r>
            <a:endParaRPr lang="es-EC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477794" y="1053070"/>
            <a:ext cx="1032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Quejas y reclamos contra la actuación, conducta o desempeño del Personal de SGCEC del Ecuador S.A.</a:t>
            </a:r>
            <a:endParaRPr lang="es-EC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477794" y="1897201"/>
            <a:ext cx="197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Cliente con Certificado BPM</a:t>
            </a:r>
            <a:endParaRPr lang="es-EC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3035644" y="1888005"/>
            <a:ext cx="1729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 / Rep. Dir.</a:t>
            </a:r>
            <a:endParaRPr lang="es-EC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5346359" y="1888005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</a:t>
            </a:r>
            <a:endParaRPr lang="es-EC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7549033" y="1857462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Equipo de Investigación</a:t>
            </a:r>
            <a:endParaRPr lang="es-EC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9601201" y="1888005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</a:t>
            </a:r>
            <a:endParaRPr lang="es-EC" b="1" dirty="0"/>
          </a:p>
        </p:txBody>
      </p:sp>
      <p:cxnSp>
        <p:nvCxnSpPr>
          <p:cNvPr id="12" name="Conector recto 11"/>
          <p:cNvCxnSpPr/>
          <p:nvPr/>
        </p:nvCxnSpPr>
        <p:spPr>
          <a:xfrm>
            <a:off x="535458" y="1855053"/>
            <a:ext cx="10939849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535458" y="2555974"/>
            <a:ext cx="10939849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>
            <a:off x="4955560" y="187239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 flipH="1">
            <a:off x="7278380" y="185264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 flipH="1">
            <a:off x="9361292" y="185264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198607" y="3113460"/>
            <a:ext cx="2235695" cy="203132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Presenta queja o reclamo por escrito a </a:t>
            </a:r>
            <a:r>
              <a:rPr lang="es-EC" dirty="0" smtClean="0">
                <a:hlinkClick r:id="rId2"/>
              </a:rPr>
              <a:t>pmartinez@sgcec.net</a:t>
            </a:r>
            <a:r>
              <a:rPr lang="es-EC" dirty="0" smtClean="0"/>
              <a:t> indicando nombre, cédula, organización, teléfono, mail con evidencia objetiva</a:t>
            </a:r>
            <a:endParaRPr lang="es-EC" dirty="0"/>
          </a:p>
        </p:txBody>
      </p:sp>
      <p:sp>
        <p:nvSpPr>
          <p:cNvPr id="20" name="CuadroTexto 19"/>
          <p:cNvSpPr txBox="1"/>
          <p:nvPr/>
        </p:nvSpPr>
        <p:spPr>
          <a:xfrm>
            <a:off x="477794" y="2678608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1</a:t>
            </a:r>
            <a:endParaRPr lang="es-EC" b="1" dirty="0"/>
          </a:p>
        </p:txBody>
      </p:sp>
      <p:sp>
        <p:nvSpPr>
          <p:cNvPr id="21" name="CuadroTexto 20"/>
          <p:cNvSpPr txBox="1"/>
          <p:nvPr/>
        </p:nvSpPr>
        <p:spPr>
          <a:xfrm>
            <a:off x="2850781" y="3113460"/>
            <a:ext cx="1995306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Recepción de la queja o reclamo</a:t>
            </a:r>
            <a:endParaRPr lang="es-EC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863058" y="2672557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2</a:t>
            </a:r>
            <a:endParaRPr lang="es-EC" b="1" dirty="0"/>
          </a:p>
        </p:txBody>
      </p:sp>
      <p:cxnSp>
        <p:nvCxnSpPr>
          <p:cNvPr id="26" name="Conector angular 25"/>
          <p:cNvCxnSpPr>
            <a:stCxn id="19" idx="3"/>
            <a:endCxn id="21" idx="1"/>
          </p:cNvCxnSpPr>
          <p:nvPr/>
        </p:nvCxnSpPr>
        <p:spPr>
          <a:xfrm flipV="1">
            <a:off x="2434302" y="3436626"/>
            <a:ext cx="416479" cy="6924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 flipH="1">
            <a:off x="2512191" y="187239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5066020" y="2671157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3</a:t>
            </a:r>
            <a:endParaRPr lang="es-EC" b="1" dirty="0"/>
          </a:p>
        </p:txBody>
      </p:sp>
      <p:sp>
        <p:nvSpPr>
          <p:cNvPr id="39" name="CuadroTexto 38"/>
          <p:cNvSpPr txBox="1"/>
          <p:nvPr/>
        </p:nvSpPr>
        <p:spPr>
          <a:xfrm>
            <a:off x="5191710" y="3119810"/>
            <a:ext cx="1963673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Atención de Queja o Reclamo</a:t>
            </a:r>
            <a:endParaRPr lang="es-EC" dirty="0"/>
          </a:p>
        </p:txBody>
      </p:sp>
      <p:sp>
        <p:nvSpPr>
          <p:cNvPr id="41" name="CuadroTexto 40"/>
          <p:cNvSpPr txBox="1"/>
          <p:nvPr/>
        </p:nvSpPr>
        <p:spPr>
          <a:xfrm>
            <a:off x="5493042" y="4036790"/>
            <a:ext cx="162932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Es procedente</a:t>
            </a:r>
            <a:endParaRPr lang="es-EC" dirty="0"/>
          </a:p>
        </p:txBody>
      </p:sp>
      <p:sp>
        <p:nvSpPr>
          <p:cNvPr id="42" name="CuadroTexto 41"/>
          <p:cNvSpPr txBox="1"/>
          <p:nvPr/>
        </p:nvSpPr>
        <p:spPr>
          <a:xfrm>
            <a:off x="5493042" y="4807629"/>
            <a:ext cx="1629322" cy="14773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No es procedente: Solicitar más información o Notificación</a:t>
            </a:r>
            <a:endParaRPr lang="es-EC" dirty="0"/>
          </a:p>
        </p:txBody>
      </p:sp>
      <p:sp>
        <p:nvSpPr>
          <p:cNvPr id="47" name="CuadroTexto 46"/>
          <p:cNvSpPr txBox="1"/>
          <p:nvPr/>
        </p:nvSpPr>
        <p:spPr>
          <a:xfrm>
            <a:off x="7509793" y="3106217"/>
            <a:ext cx="1629322" cy="14773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Investigación de la Queja o Reclamo *:</a:t>
            </a:r>
          </a:p>
          <a:p>
            <a:pPr algn="ctr"/>
            <a:r>
              <a:rPr lang="es-EC" dirty="0" smtClean="0"/>
              <a:t>Emite informe de resultados</a:t>
            </a:r>
            <a:endParaRPr lang="es-EC" dirty="0"/>
          </a:p>
        </p:txBody>
      </p:sp>
      <p:cxnSp>
        <p:nvCxnSpPr>
          <p:cNvPr id="66" name="Conector angular 65"/>
          <p:cNvCxnSpPr>
            <a:endCxn id="41" idx="1"/>
          </p:cNvCxnSpPr>
          <p:nvPr/>
        </p:nvCxnSpPr>
        <p:spPr>
          <a:xfrm rot="16200000" flipH="1">
            <a:off x="5155846" y="3884259"/>
            <a:ext cx="455315" cy="2190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angular 67"/>
          <p:cNvCxnSpPr>
            <a:endCxn id="42" idx="1"/>
          </p:cNvCxnSpPr>
          <p:nvPr/>
        </p:nvCxnSpPr>
        <p:spPr>
          <a:xfrm rot="16200000" flipH="1">
            <a:off x="4324117" y="4181157"/>
            <a:ext cx="2036520" cy="3013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41" idx="3"/>
            <a:endCxn id="47" idx="1"/>
          </p:cNvCxnSpPr>
          <p:nvPr/>
        </p:nvCxnSpPr>
        <p:spPr>
          <a:xfrm flipV="1">
            <a:off x="7122364" y="3844881"/>
            <a:ext cx="387429" cy="3765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9845985" y="3125866"/>
            <a:ext cx="1629322" cy="230832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Notificación al Cliente: Solicitar más información, notificación no procedente, informe de resultados</a:t>
            </a:r>
            <a:endParaRPr lang="es-EC" dirty="0"/>
          </a:p>
        </p:txBody>
      </p:sp>
      <p:sp>
        <p:nvSpPr>
          <p:cNvPr id="73" name="CuadroTexto 72"/>
          <p:cNvSpPr txBox="1"/>
          <p:nvPr/>
        </p:nvSpPr>
        <p:spPr>
          <a:xfrm>
            <a:off x="7355197" y="2650908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4</a:t>
            </a:r>
            <a:endParaRPr lang="es-EC" b="1" dirty="0"/>
          </a:p>
        </p:txBody>
      </p:sp>
      <p:sp>
        <p:nvSpPr>
          <p:cNvPr id="74" name="CuadroTexto 73"/>
          <p:cNvSpPr txBox="1"/>
          <p:nvPr/>
        </p:nvSpPr>
        <p:spPr>
          <a:xfrm>
            <a:off x="9554456" y="2678114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5</a:t>
            </a:r>
            <a:endParaRPr lang="es-EC" b="1" dirty="0"/>
          </a:p>
        </p:txBody>
      </p:sp>
      <p:cxnSp>
        <p:nvCxnSpPr>
          <p:cNvPr id="76" name="Conector angular 75"/>
          <p:cNvCxnSpPr>
            <a:stCxn id="47" idx="3"/>
            <a:endCxn id="72" idx="1"/>
          </p:cNvCxnSpPr>
          <p:nvPr/>
        </p:nvCxnSpPr>
        <p:spPr>
          <a:xfrm>
            <a:off x="9139115" y="3844881"/>
            <a:ext cx="706870" cy="4351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/>
          <p:cNvSpPr/>
          <p:nvPr/>
        </p:nvSpPr>
        <p:spPr>
          <a:xfrm>
            <a:off x="10070954" y="5641654"/>
            <a:ext cx="1302328" cy="423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b="1" dirty="0" smtClean="0">
                <a:solidFill>
                  <a:schemeClr val="tx1"/>
                </a:solidFill>
              </a:rPr>
              <a:t>Cierre del proceso</a:t>
            </a:r>
            <a:endParaRPr lang="es-EC" sz="1100" b="1" dirty="0">
              <a:solidFill>
                <a:schemeClr val="tx1"/>
              </a:solidFill>
            </a:endParaRPr>
          </a:p>
        </p:txBody>
      </p:sp>
      <p:cxnSp>
        <p:nvCxnSpPr>
          <p:cNvPr id="78" name="Conector recto de flecha 77"/>
          <p:cNvCxnSpPr>
            <a:endCxn id="77" idx="0"/>
          </p:cNvCxnSpPr>
          <p:nvPr/>
        </p:nvCxnSpPr>
        <p:spPr>
          <a:xfrm>
            <a:off x="10717909" y="5437196"/>
            <a:ext cx="4209" cy="204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 redondeado 78"/>
          <p:cNvSpPr/>
          <p:nvPr/>
        </p:nvSpPr>
        <p:spPr>
          <a:xfrm>
            <a:off x="7549033" y="5641654"/>
            <a:ext cx="1590082" cy="10153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 smtClean="0">
                <a:solidFill>
                  <a:schemeClr val="tx1"/>
                </a:solidFill>
              </a:rPr>
              <a:t>* En caso de no entregar información en 90 días se puede cerrar proceso.</a:t>
            </a:r>
            <a:endParaRPr lang="es-EC" sz="1200" dirty="0">
              <a:solidFill>
                <a:schemeClr val="tx1"/>
              </a:solidFill>
            </a:endParaRPr>
          </a:p>
        </p:txBody>
      </p:sp>
      <p:pic>
        <p:nvPicPr>
          <p:cNvPr id="1026" name="Imagen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782" y="272954"/>
            <a:ext cx="356552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de flecha 2"/>
          <p:cNvCxnSpPr>
            <a:stCxn id="21" idx="3"/>
            <a:endCxn id="39" idx="1"/>
          </p:cNvCxnSpPr>
          <p:nvPr/>
        </p:nvCxnSpPr>
        <p:spPr>
          <a:xfrm>
            <a:off x="4846087" y="3436626"/>
            <a:ext cx="345623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angular 44"/>
          <p:cNvCxnSpPr/>
          <p:nvPr/>
        </p:nvCxnSpPr>
        <p:spPr>
          <a:xfrm flipV="1">
            <a:off x="7122364" y="4868819"/>
            <a:ext cx="2723621" cy="3911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83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77794" y="299040"/>
            <a:ext cx="1013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DESCRIPCION DEL PROCESO DE APELACIONES</a:t>
            </a:r>
            <a:endParaRPr lang="es-EC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477793" y="711334"/>
            <a:ext cx="10997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C" b="1" dirty="0" smtClean="0"/>
              <a:t>Apelaciones a las decisiones de SGCEC del Ecuador S.A.:  </a:t>
            </a:r>
          </a:p>
          <a:p>
            <a:pPr lvl="0"/>
            <a:r>
              <a:rPr lang="es-ES" i="1" dirty="0" smtClean="0"/>
              <a:t>Rechazo </a:t>
            </a:r>
            <a:r>
              <a:rPr lang="es-ES" i="1" dirty="0"/>
              <a:t>de Solicitud de Servicios de </a:t>
            </a:r>
            <a:r>
              <a:rPr lang="es-ES" i="1" dirty="0" smtClean="0"/>
              <a:t>Inspección, Rechazo </a:t>
            </a:r>
            <a:r>
              <a:rPr lang="es-ES" i="1" dirty="0"/>
              <a:t>de Solicitud de Acción </a:t>
            </a:r>
            <a:r>
              <a:rPr lang="es-ES" i="1" dirty="0" smtClean="0"/>
              <a:t>Correctiva, Rechazo </a:t>
            </a:r>
            <a:r>
              <a:rPr lang="es-ES" i="1" dirty="0"/>
              <a:t>de un Plan de Acción </a:t>
            </a:r>
            <a:r>
              <a:rPr lang="es-ES" i="1" dirty="0" smtClean="0"/>
              <a:t>Correctiva, Cambios </a:t>
            </a:r>
            <a:r>
              <a:rPr lang="es-ES" i="1" dirty="0"/>
              <a:t>en el alcance de la Certificación </a:t>
            </a:r>
            <a:r>
              <a:rPr lang="es-ES" i="1" dirty="0" smtClean="0"/>
              <a:t>BPM, Decisión </a:t>
            </a:r>
            <a:r>
              <a:rPr lang="es-ES" i="1" dirty="0"/>
              <a:t>de retirar, suspender o negar la Certificación </a:t>
            </a:r>
            <a:r>
              <a:rPr lang="es-ES" i="1" dirty="0" smtClean="0"/>
              <a:t>BPM o Cualquier </a:t>
            </a:r>
            <a:r>
              <a:rPr lang="es-ES" i="1" dirty="0"/>
              <a:t>incumplimiento que no permita obtener la Certificación BPM</a:t>
            </a:r>
            <a:endParaRPr lang="es-EC" dirty="0"/>
          </a:p>
        </p:txBody>
      </p:sp>
      <p:sp>
        <p:nvSpPr>
          <p:cNvPr id="6" name="CuadroTexto 5"/>
          <p:cNvSpPr txBox="1"/>
          <p:nvPr/>
        </p:nvSpPr>
        <p:spPr>
          <a:xfrm>
            <a:off x="477794" y="1897201"/>
            <a:ext cx="197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Cliente con Certificado BPM</a:t>
            </a:r>
            <a:endParaRPr lang="es-EC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3035644" y="1888005"/>
            <a:ext cx="1729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 / Rep. Dir.</a:t>
            </a:r>
            <a:endParaRPr lang="es-EC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5346359" y="1888005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</a:t>
            </a:r>
            <a:endParaRPr lang="es-EC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7549033" y="1857462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Equipo de Investigación</a:t>
            </a:r>
            <a:endParaRPr lang="es-EC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9601201" y="1888005"/>
            <a:ext cx="1772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 smtClean="0"/>
              <a:t>Gerente Técnico BPM</a:t>
            </a:r>
            <a:endParaRPr lang="es-EC" b="1" dirty="0"/>
          </a:p>
        </p:txBody>
      </p:sp>
      <p:cxnSp>
        <p:nvCxnSpPr>
          <p:cNvPr id="12" name="Conector recto 11"/>
          <p:cNvCxnSpPr/>
          <p:nvPr/>
        </p:nvCxnSpPr>
        <p:spPr>
          <a:xfrm>
            <a:off x="535458" y="1855053"/>
            <a:ext cx="10939849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535458" y="2555974"/>
            <a:ext cx="10939849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>
            <a:off x="4955560" y="187239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 flipH="1">
            <a:off x="7278380" y="185264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 flipH="1">
            <a:off x="9361292" y="185264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198607" y="3113460"/>
            <a:ext cx="2235695" cy="286232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Presenta solicitud de apelación por escrito a SGCEC del Ecuador S.A. atención Ing. Pedro Martínez </a:t>
            </a:r>
            <a:r>
              <a:rPr lang="es-EC" dirty="0" smtClean="0">
                <a:hlinkClick r:id="rId2"/>
              </a:rPr>
              <a:t>pmartinez@sgcec.net</a:t>
            </a:r>
            <a:r>
              <a:rPr lang="es-EC" dirty="0" smtClean="0"/>
              <a:t> indicando nombre, cédula, organización, teléfono, mail con evidencia objetiva</a:t>
            </a:r>
            <a:endParaRPr lang="es-EC" dirty="0"/>
          </a:p>
        </p:txBody>
      </p:sp>
      <p:sp>
        <p:nvSpPr>
          <p:cNvPr id="20" name="CuadroTexto 19"/>
          <p:cNvSpPr txBox="1"/>
          <p:nvPr/>
        </p:nvSpPr>
        <p:spPr>
          <a:xfrm>
            <a:off x="477794" y="2678608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1</a:t>
            </a:r>
            <a:endParaRPr lang="es-EC" b="1" dirty="0"/>
          </a:p>
        </p:txBody>
      </p:sp>
      <p:sp>
        <p:nvSpPr>
          <p:cNvPr id="21" name="CuadroTexto 20"/>
          <p:cNvSpPr txBox="1"/>
          <p:nvPr/>
        </p:nvSpPr>
        <p:spPr>
          <a:xfrm>
            <a:off x="2850781" y="3113460"/>
            <a:ext cx="1995306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Recepción de la Solicitud de Apelación *</a:t>
            </a:r>
            <a:endParaRPr lang="es-EC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863058" y="2672557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2</a:t>
            </a:r>
            <a:endParaRPr lang="es-EC" b="1" dirty="0"/>
          </a:p>
        </p:txBody>
      </p:sp>
      <p:cxnSp>
        <p:nvCxnSpPr>
          <p:cNvPr id="26" name="Conector angular 25"/>
          <p:cNvCxnSpPr>
            <a:stCxn id="19" idx="3"/>
            <a:endCxn id="21" idx="1"/>
          </p:cNvCxnSpPr>
          <p:nvPr/>
        </p:nvCxnSpPr>
        <p:spPr>
          <a:xfrm flipV="1">
            <a:off x="2434302" y="3575125"/>
            <a:ext cx="416479" cy="9694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 flipH="1">
            <a:off x="2512191" y="1872395"/>
            <a:ext cx="9236" cy="480436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5066020" y="2671157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3</a:t>
            </a:r>
            <a:endParaRPr lang="es-EC" b="1" dirty="0"/>
          </a:p>
        </p:txBody>
      </p:sp>
      <p:sp>
        <p:nvSpPr>
          <p:cNvPr id="39" name="CuadroTexto 38"/>
          <p:cNvSpPr txBox="1"/>
          <p:nvPr/>
        </p:nvSpPr>
        <p:spPr>
          <a:xfrm>
            <a:off x="5191710" y="3119810"/>
            <a:ext cx="1963673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Validación de la Apelación</a:t>
            </a:r>
            <a:endParaRPr lang="es-EC" dirty="0"/>
          </a:p>
        </p:txBody>
      </p:sp>
      <p:sp>
        <p:nvSpPr>
          <p:cNvPr id="41" name="CuadroTexto 40"/>
          <p:cNvSpPr txBox="1"/>
          <p:nvPr/>
        </p:nvSpPr>
        <p:spPr>
          <a:xfrm>
            <a:off x="5440253" y="4036790"/>
            <a:ext cx="1751002" cy="73866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400" dirty="0" smtClean="0"/>
              <a:t>Es procedente: Establecer costo proceso apelación **</a:t>
            </a:r>
            <a:endParaRPr lang="es-EC" sz="1400" dirty="0"/>
          </a:p>
        </p:txBody>
      </p:sp>
      <p:sp>
        <p:nvSpPr>
          <p:cNvPr id="42" name="CuadroTexto 41"/>
          <p:cNvSpPr txBox="1"/>
          <p:nvPr/>
        </p:nvSpPr>
        <p:spPr>
          <a:xfrm>
            <a:off x="5493042" y="4964646"/>
            <a:ext cx="1629322" cy="95410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400" dirty="0" smtClean="0"/>
              <a:t>No es procedente: Solicitar más información o Notificación</a:t>
            </a:r>
            <a:endParaRPr lang="es-EC" sz="1400" dirty="0"/>
          </a:p>
        </p:txBody>
      </p:sp>
      <p:sp>
        <p:nvSpPr>
          <p:cNvPr id="47" name="CuadroTexto 46"/>
          <p:cNvSpPr txBox="1"/>
          <p:nvPr/>
        </p:nvSpPr>
        <p:spPr>
          <a:xfrm>
            <a:off x="7509793" y="3106217"/>
            <a:ext cx="1629322" cy="14773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Investigación de la Apelación: Informe de Resultados</a:t>
            </a:r>
            <a:endParaRPr lang="es-EC" dirty="0"/>
          </a:p>
        </p:txBody>
      </p:sp>
      <p:cxnSp>
        <p:nvCxnSpPr>
          <p:cNvPr id="66" name="Conector angular 65"/>
          <p:cNvCxnSpPr>
            <a:endCxn id="41" idx="1"/>
          </p:cNvCxnSpPr>
          <p:nvPr/>
        </p:nvCxnSpPr>
        <p:spPr>
          <a:xfrm rot="16200000" flipH="1">
            <a:off x="5037113" y="4002982"/>
            <a:ext cx="639990" cy="1662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angular 67"/>
          <p:cNvCxnSpPr>
            <a:endCxn id="42" idx="1"/>
          </p:cNvCxnSpPr>
          <p:nvPr/>
        </p:nvCxnSpPr>
        <p:spPr>
          <a:xfrm rot="16200000" flipH="1">
            <a:off x="4356817" y="4305474"/>
            <a:ext cx="1971121" cy="3013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41" idx="3"/>
            <a:endCxn id="47" idx="1"/>
          </p:cNvCxnSpPr>
          <p:nvPr/>
        </p:nvCxnSpPr>
        <p:spPr>
          <a:xfrm flipV="1">
            <a:off x="7191255" y="3844881"/>
            <a:ext cx="318538" cy="5612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9845985" y="3125866"/>
            <a:ext cx="1629322" cy="230832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dirty="0" smtClean="0"/>
              <a:t>Notificación al Cliente: Solicitar más información, notificación no procedente, informe de resultados</a:t>
            </a:r>
            <a:endParaRPr lang="es-EC" dirty="0"/>
          </a:p>
        </p:txBody>
      </p:sp>
      <p:sp>
        <p:nvSpPr>
          <p:cNvPr id="73" name="CuadroTexto 72"/>
          <p:cNvSpPr txBox="1"/>
          <p:nvPr/>
        </p:nvSpPr>
        <p:spPr>
          <a:xfrm>
            <a:off x="7355197" y="2650908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4</a:t>
            </a:r>
            <a:endParaRPr lang="es-EC" b="1" dirty="0"/>
          </a:p>
        </p:txBody>
      </p:sp>
      <p:sp>
        <p:nvSpPr>
          <p:cNvPr id="74" name="CuadroTexto 73"/>
          <p:cNvSpPr txBox="1"/>
          <p:nvPr/>
        </p:nvSpPr>
        <p:spPr>
          <a:xfrm>
            <a:off x="9554456" y="2678114"/>
            <a:ext cx="197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smtClean="0"/>
              <a:t>Paso 5</a:t>
            </a:r>
            <a:endParaRPr lang="es-EC" b="1" dirty="0"/>
          </a:p>
        </p:txBody>
      </p:sp>
      <p:cxnSp>
        <p:nvCxnSpPr>
          <p:cNvPr id="76" name="Conector angular 75"/>
          <p:cNvCxnSpPr>
            <a:stCxn id="47" idx="3"/>
            <a:endCxn id="72" idx="1"/>
          </p:cNvCxnSpPr>
          <p:nvPr/>
        </p:nvCxnSpPr>
        <p:spPr>
          <a:xfrm>
            <a:off x="9139115" y="3844881"/>
            <a:ext cx="706870" cy="4351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/>
          <p:cNvSpPr/>
          <p:nvPr/>
        </p:nvSpPr>
        <p:spPr>
          <a:xfrm>
            <a:off x="10070954" y="5641654"/>
            <a:ext cx="1302328" cy="423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b="1" dirty="0" smtClean="0">
                <a:solidFill>
                  <a:schemeClr val="tx1"/>
                </a:solidFill>
              </a:rPr>
              <a:t>Cierre del proceso</a:t>
            </a:r>
            <a:endParaRPr lang="es-EC" sz="1100" b="1" dirty="0">
              <a:solidFill>
                <a:schemeClr val="tx1"/>
              </a:solidFill>
            </a:endParaRPr>
          </a:p>
        </p:txBody>
      </p:sp>
      <p:cxnSp>
        <p:nvCxnSpPr>
          <p:cNvPr id="78" name="Conector recto de flecha 77"/>
          <p:cNvCxnSpPr>
            <a:endCxn id="77" idx="0"/>
          </p:cNvCxnSpPr>
          <p:nvPr/>
        </p:nvCxnSpPr>
        <p:spPr>
          <a:xfrm>
            <a:off x="10717909" y="5437196"/>
            <a:ext cx="4209" cy="204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Imagen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013" y="266794"/>
            <a:ext cx="356552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Conector angular 44"/>
          <p:cNvCxnSpPr/>
          <p:nvPr/>
        </p:nvCxnSpPr>
        <p:spPr>
          <a:xfrm flipV="1">
            <a:off x="7107934" y="5126634"/>
            <a:ext cx="2723621" cy="3911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r 10"/>
          <p:cNvCxnSpPr>
            <a:stCxn id="21" idx="3"/>
            <a:endCxn id="39" idx="1"/>
          </p:cNvCxnSpPr>
          <p:nvPr/>
        </p:nvCxnSpPr>
        <p:spPr>
          <a:xfrm flipV="1">
            <a:off x="4846087" y="3442976"/>
            <a:ext cx="345623" cy="1321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redondeado 39"/>
          <p:cNvSpPr/>
          <p:nvPr/>
        </p:nvSpPr>
        <p:spPr>
          <a:xfrm>
            <a:off x="2835031" y="5528424"/>
            <a:ext cx="1884643" cy="10153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 smtClean="0">
                <a:solidFill>
                  <a:schemeClr val="tx1"/>
                </a:solidFill>
              </a:rPr>
              <a:t>* Se aceptan apelaciones dentro de los 30 días posteriores a la toma de decisión por parte de SGCEC del Ecuador S.A.</a:t>
            </a:r>
            <a:endParaRPr lang="es-EC" sz="1200" dirty="0">
              <a:solidFill>
                <a:schemeClr val="tx1"/>
              </a:solidFill>
            </a:endParaRPr>
          </a:p>
        </p:txBody>
      </p:sp>
      <p:sp>
        <p:nvSpPr>
          <p:cNvPr id="46" name="Rectángulo redondeado 45"/>
          <p:cNvSpPr/>
          <p:nvPr/>
        </p:nvSpPr>
        <p:spPr>
          <a:xfrm>
            <a:off x="5074269" y="6060872"/>
            <a:ext cx="2116986" cy="7044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 smtClean="0">
                <a:solidFill>
                  <a:schemeClr val="tx1"/>
                </a:solidFill>
              </a:rPr>
              <a:t>** Costo total o parcial debe ser cancelado por cliente dentro de 10 días aceptada solicitud de apelación.</a:t>
            </a:r>
            <a:endParaRPr lang="es-EC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4008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532</Words>
  <Application>Microsoft Office PowerPoint</Application>
  <PresentationFormat>Panorámica</PresentationFormat>
  <Paragraphs>70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Martinez</dc:creator>
  <cp:lastModifiedBy>Pedro Martinez</cp:lastModifiedBy>
  <cp:revision>10</cp:revision>
  <dcterms:created xsi:type="dcterms:W3CDTF">2016-02-15T17:16:21Z</dcterms:created>
  <dcterms:modified xsi:type="dcterms:W3CDTF">2016-02-15T21:45:38Z</dcterms:modified>
</cp:coreProperties>
</file>